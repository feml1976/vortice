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D7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wlogo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1102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PROYECTO VÓRTICE</a:t>
            </a:r>
            <a:br/>
            <a:r>
              <a:t>Informe de Avance</a:t>
            </a:r>
          </a:p>
          <a:p>
            <a:pPr>
              <a:defRPr sz="1800">
                <a:solidFill>
                  <a:srgbClr val="FFD961"/>
                </a:solidFill>
              </a:defRPr>
            </a:pPr>
            <a:r>
              <a:t>Reunión interna de seguimiento – Equipo Desarrollo &amp; QA</a:t>
            </a:r>
            <a:br/>
            <a:r>
              <a:t>Enero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D72"/>
                </a:solidFill>
              </a:defRPr>
            </a:pPr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800">
                <a:solidFill>
                  <a:srgbClr val="000000"/>
                </a:solidFill>
              </a:defRPr>
            </a:pPr>
            <a:r>
              <a:t>Infraestructura de testing con PostgreSQL real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Autenticación frontend completa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Documentación técnica finalizada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50 tests ejecutados – 100% OK</a:t>
            </a:r>
          </a:p>
        </p:txBody>
      </p:sp>
      <p:pic>
        <p:nvPicPr>
          <p:cNvPr id="4" name="Picture 3" descr="newlogo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943600"/>
            <a:ext cx="1371600" cy="5511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D72"/>
                </a:solidFill>
              </a:defRPr>
            </a:pPr>
            <a:r>
              <a:t>Infraestructura de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800">
                <a:solidFill>
                  <a:srgbClr val="000000"/>
                </a:solidFill>
              </a:defRPr>
            </a:pPr>
            <a:r>
              <a:t>Uso de Testcontainers con PostgreSQL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Eliminación de dependencias H2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Migraciones Flyway validadas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Mayor confiabilidad en QA</a:t>
            </a:r>
          </a:p>
        </p:txBody>
      </p:sp>
      <p:pic>
        <p:nvPicPr>
          <p:cNvPr id="4" name="Picture 3" descr="newlogo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943600"/>
            <a:ext cx="1371600" cy="551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D72"/>
                </a:solidFill>
              </a:defRPr>
            </a:pPr>
            <a:r>
              <a:t>Resultados de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800">
                <a:solidFill>
                  <a:srgbClr val="000000"/>
                </a:solidFill>
              </a:defRPr>
            </a:pPr>
            <a:r>
              <a:t>UserRepository: 17 tests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RoleRepository: 15 tests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RefreshTokenRepository: 18 tests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BUILD SUCCESS – sin fallos</a:t>
            </a:r>
          </a:p>
        </p:txBody>
      </p:sp>
      <p:pic>
        <p:nvPicPr>
          <p:cNvPr id="4" name="Picture 3" descr="newlogo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943600"/>
            <a:ext cx="1371600" cy="5511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D72"/>
                </a:solidFill>
              </a:defRPr>
            </a:pPr>
            <a:r>
              <a:t>Autenticación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800">
                <a:solidFill>
                  <a:srgbClr val="000000"/>
                </a:solidFill>
              </a:defRPr>
            </a:pPr>
            <a:r>
              <a:t>Login seguro con JWT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Refresh automático de tokens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Protección de rutas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Gestión centralizada de errores</a:t>
            </a:r>
          </a:p>
        </p:txBody>
      </p:sp>
      <p:pic>
        <p:nvPicPr>
          <p:cNvPr id="4" name="Picture 3" descr="newlogo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943600"/>
            <a:ext cx="1371600" cy="5511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D72"/>
                </a:solidFill>
              </a:defRPr>
            </a:pPr>
            <a:r>
              <a:t>Arquitectura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800">
                <a:solidFill>
                  <a:srgbClr val="000000"/>
                </a:solidFill>
              </a:defRPr>
            </a:pPr>
            <a:r>
              <a:t>UI desacoplada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State Management con Zustand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Capa de servicios API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Arquitectura modular y escalable</a:t>
            </a:r>
          </a:p>
        </p:txBody>
      </p:sp>
      <p:pic>
        <p:nvPicPr>
          <p:cNvPr id="4" name="Picture 3" descr="newlogo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943600"/>
            <a:ext cx="1371600" cy="5511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D72"/>
                </a:solidFill>
              </a:defRPr>
            </a:pPr>
            <a:r>
              <a:t>Documentación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800">
                <a:solidFill>
                  <a:srgbClr val="000000"/>
                </a:solidFill>
              </a:defRPr>
            </a:pPr>
            <a:r>
              <a:t>Guía completa de testing de API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Ejemplos cURL y Postman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Soporte a onboarding del equipo</a:t>
            </a:r>
          </a:p>
        </p:txBody>
      </p:sp>
      <p:pic>
        <p:nvPicPr>
          <p:cNvPr id="4" name="Picture 3" descr="newlogo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943600"/>
            <a:ext cx="1371600" cy="551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D72"/>
                </a:solidFill>
              </a:defRPr>
            </a:pPr>
            <a:r>
              <a:t>Estado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800">
                <a:solidFill>
                  <a:srgbClr val="000000"/>
                </a:solidFill>
              </a:defRPr>
            </a:pPr>
            <a:r>
              <a:t>Avance estimado: 15%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Base técnica sólida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Listo para iniciar módulos de negocio</a:t>
            </a:r>
          </a:p>
        </p:txBody>
      </p:sp>
      <p:pic>
        <p:nvPicPr>
          <p:cNvPr id="4" name="Picture 3" descr="newlogo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943600"/>
            <a:ext cx="1371600" cy="5511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D72"/>
                </a:solidFill>
              </a:defRPr>
            </a:pPr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800">
                <a:solidFill>
                  <a:srgbClr val="000000"/>
                </a:solidFill>
              </a:defRPr>
            </a:pPr>
            <a:r>
              <a:t>Registro de usuarios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Recuperación de contraseña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Layout general de aplicación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Inicio módulo Taller</a:t>
            </a:r>
          </a:p>
        </p:txBody>
      </p:sp>
      <p:pic>
        <p:nvPicPr>
          <p:cNvPr id="4" name="Picture 3" descr="newlogo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943600"/>
            <a:ext cx="1371600" cy="5511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36D72"/>
                </a:solidFill>
              </a:defRPr>
            </a:pPr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800">
                <a:solidFill>
                  <a:srgbClr val="000000"/>
                </a:solidFill>
              </a:defRPr>
            </a:pPr>
            <a:r>
              <a:t>Sprint ejecutado con alta calidad técnica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Arquitectura validada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Proyecto listo para escalar</a:t>
            </a:r>
          </a:p>
        </p:txBody>
      </p:sp>
      <p:pic>
        <p:nvPicPr>
          <p:cNvPr id="4" name="Picture 3" descr="newlogo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943600"/>
            <a:ext cx="1371600" cy="5511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